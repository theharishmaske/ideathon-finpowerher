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Montserrat Bold" panose="020B0604020202020204" charset="0"/>
      <p:regular r:id="rId16"/>
    </p:embeddedFont>
    <p:embeddedFont>
      <p:font typeface="Montserrat Ultra-Bold" panose="020B0604020202020204" charset="0"/>
      <p:regular r:id="rId17"/>
    </p:embeddedFont>
    <p:embeddedFont>
      <p:font typeface="Open Sans 1" panose="020B0604020202020204" charset="0"/>
      <p:regular r:id="rId18"/>
    </p:embeddedFont>
    <p:embeddedFont>
      <p:font typeface="Open Sans 1 Bold" panose="020B0604020202020204" charset="0"/>
      <p:regular r:id="rId19"/>
    </p:embeddedFont>
    <p:embeddedFont>
      <p:font typeface="Open Sans 2" panose="020B0604020202020204" charset="0"/>
      <p:regular r:id="rId20"/>
    </p:embeddedFont>
    <p:embeddedFont>
      <p:font typeface="Open Sans 2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573908"/>
            <a:ext cx="9460160" cy="6905917"/>
          </a:xfrm>
          <a:custGeom>
            <a:avLst/>
            <a:gdLst/>
            <a:ahLst/>
            <a:cxnLst/>
            <a:rect l="l" t="t" r="r" b="b"/>
            <a:pathLst>
              <a:path w="9460160" h="6905917">
                <a:moveTo>
                  <a:pt x="0" y="0"/>
                </a:moveTo>
                <a:lnTo>
                  <a:pt x="9460160" y="0"/>
                </a:lnTo>
                <a:lnTo>
                  <a:pt x="9460160" y="6905917"/>
                </a:lnTo>
                <a:lnTo>
                  <a:pt x="0" y="69059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9460160" y="1143000"/>
            <a:ext cx="8589939" cy="311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6062" b="1" spc="-303">
                <a:solidFill>
                  <a:srgbClr val="EF659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EMPOWERING WOMEN THROUGH </a:t>
            </a:r>
            <a:r>
              <a:rPr lang="en-US" sz="6062" b="1" spc="-30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FINANCIAL LITERACY</a:t>
            </a:r>
          </a:p>
          <a:p>
            <a:pPr algn="l">
              <a:lnSpc>
                <a:spcPts val="6062"/>
              </a:lnSpc>
            </a:pPr>
            <a:endParaRPr lang="en-US" sz="6062" b="1" spc="-303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854728" y="4998291"/>
            <a:ext cx="7190571" cy="2494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88"/>
              </a:lnSpc>
            </a:pPr>
            <a:r>
              <a:rPr lang="en-US" sz="3837">
                <a:solidFill>
                  <a:srgbClr val="E43F35"/>
                </a:solidFill>
                <a:latin typeface="Open Sans 1"/>
                <a:ea typeface="Open Sans 1"/>
                <a:cs typeface="Open Sans 1"/>
                <a:sym typeface="Open Sans 1"/>
              </a:rPr>
              <a:t>"</a:t>
            </a:r>
            <a:r>
              <a:rPr lang="en-US" sz="3837" b="1">
                <a:solidFill>
                  <a:srgbClr val="DC9427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Empowered women don’t just break barriers — they build financial legacies</a:t>
            </a:r>
            <a:r>
              <a:rPr lang="en-US" sz="3837">
                <a:solidFill>
                  <a:srgbClr val="DC9427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  <a:r>
              <a:rPr lang="en-US" sz="3837">
                <a:solidFill>
                  <a:srgbClr val="E43F35"/>
                </a:solidFill>
                <a:latin typeface="Open Sans 1"/>
                <a:ea typeface="Open Sans 1"/>
                <a:cs typeface="Open Sans 1"/>
                <a:sym typeface="Open Sans 1"/>
              </a:rPr>
              <a:t>"</a:t>
            </a:r>
          </a:p>
          <a:p>
            <a:pPr marL="0" lvl="0" indent="0" algn="l">
              <a:lnSpc>
                <a:spcPts val="4988"/>
              </a:lnSpc>
            </a:pPr>
            <a:r>
              <a:rPr lang="en-US" sz="3837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3837">
                <a:solidFill>
                  <a:srgbClr val="3978A2"/>
                </a:solidFill>
                <a:latin typeface="Open Sans 1"/>
                <a:ea typeface="Open Sans 1"/>
                <a:cs typeface="Open Sans 1"/>
                <a:sym typeface="Open Sans 1"/>
              </a:rPr>
              <a:t>— Inspired by Melinda Gates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60237" y="1110958"/>
            <a:ext cx="4285216" cy="4961176"/>
          </a:xfrm>
          <a:custGeom>
            <a:avLst/>
            <a:gdLst/>
            <a:ahLst/>
            <a:cxnLst/>
            <a:rect l="l" t="t" r="r" b="b"/>
            <a:pathLst>
              <a:path w="4285216" h="4961176">
                <a:moveTo>
                  <a:pt x="0" y="0"/>
                </a:moveTo>
                <a:lnTo>
                  <a:pt x="4285215" y="0"/>
                </a:lnTo>
                <a:lnTo>
                  <a:pt x="4285215" y="4961176"/>
                </a:lnTo>
                <a:lnTo>
                  <a:pt x="0" y="49611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1976896" y="4599960"/>
            <a:ext cx="5282404" cy="4734354"/>
          </a:xfrm>
          <a:custGeom>
            <a:avLst/>
            <a:gdLst/>
            <a:ahLst/>
            <a:cxnLst/>
            <a:rect l="l" t="t" r="r" b="b"/>
            <a:pathLst>
              <a:path w="5282404" h="4734354">
                <a:moveTo>
                  <a:pt x="0" y="0"/>
                </a:moveTo>
                <a:lnTo>
                  <a:pt x="5282404" y="0"/>
                </a:lnTo>
                <a:lnTo>
                  <a:pt x="5282404" y="4734354"/>
                </a:lnTo>
                <a:lnTo>
                  <a:pt x="0" y="4734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436411" y="1225258"/>
            <a:ext cx="9400413" cy="1562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 spc="-300">
                <a:solidFill>
                  <a:srgbClr val="EF659B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PROBLEM STATEMENT &amp; </a:t>
            </a:r>
            <a:r>
              <a:rPr lang="en-US" sz="6000" b="1" spc="-30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CONTEXT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5461" y="3365202"/>
            <a:ext cx="11540485" cy="2421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1">
                <a:solidFill>
                  <a:srgbClr val="DC9427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Problem Statement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Women face barriers in understanding and managing finances.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Lack of literacy leads to dependency, fraud vulnerability, and missed opportunities.</a:t>
            </a:r>
          </a:p>
          <a:p>
            <a:pPr algn="l">
              <a:lnSpc>
                <a:spcPts val="3779"/>
              </a:lnSpc>
            </a:pPr>
            <a:endParaRPr lang="en-US" sz="2700">
              <a:solidFill>
                <a:srgbClr val="FFFFFF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36411" y="5945505"/>
            <a:ext cx="9923339" cy="337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1">
                <a:solidFill>
                  <a:srgbClr val="DC9427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Context &amp; Impact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Globally, women are 27% less likely to access formal financial services.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In India, only 33% of women are financially literate (vs. 55% of men).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Limits participation in investments and wealth-building.</a:t>
            </a:r>
          </a:p>
          <a:p>
            <a:pPr algn="l">
              <a:lnSpc>
                <a:spcPts val="3779"/>
              </a:lnSpc>
            </a:pPr>
            <a:endParaRPr lang="en-US" sz="2700">
              <a:solidFill>
                <a:srgbClr val="FFFFFF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357" y="1334184"/>
            <a:ext cx="11344323" cy="800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6000" b="1" spc="-300" dirty="0">
                <a:solidFill>
                  <a:srgbClr val="EF659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FIN-POWER-</a:t>
            </a:r>
            <a:r>
              <a:rPr lang="en-US" sz="6000" b="1" spc="-300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00357" y="2935922"/>
            <a:ext cx="11344323" cy="2239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b="1">
                <a:solidFill>
                  <a:srgbClr val="DC9427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Mission</a:t>
            </a:r>
          </a:p>
          <a:p>
            <a:pPr marL="582930" lvl="1" indent="-291465" algn="l">
              <a:lnSpc>
                <a:spcPts val="3510"/>
              </a:lnSpc>
              <a:buFont typeface="Arial"/>
              <a:buChar char="•"/>
            </a:pPr>
            <a:r>
              <a:rPr lang="en-US" sz="2700" b="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</a:t>
            </a:r>
            <a:r>
              <a:rPr lang="en-US" sz="27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mpower women through financial education, technology, and community.</a:t>
            </a:r>
          </a:p>
          <a:p>
            <a:pPr marL="582930" lvl="1" indent="-291465" algn="l">
              <a:lnSpc>
                <a:spcPts val="351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Promote independence and informed decision-making</a:t>
            </a:r>
            <a:r>
              <a:rPr lang="en-US" sz="2700" b="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.</a:t>
            </a:r>
          </a:p>
          <a:p>
            <a:pPr algn="l">
              <a:lnSpc>
                <a:spcPts val="3510"/>
              </a:lnSpc>
            </a:pPr>
            <a:endParaRPr lang="en-US" sz="2700" b="1">
              <a:solidFill>
                <a:srgbClr val="FFFFFF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00357" y="5659168"/>
            <a:ext cx="11010170" cy="2677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5"/>
              </a:lnSpc>
            </a:pPr>
            <a:r>
              <a:rPr lang="en-US" sz="3096" b="1">
                <a:solidFill>
                  <a:srgbClr val="DC9427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Overview</a:t>
            </a:r>
          </a:p>
          <a:p>
            <a:pPr marL="582175" lvl="1" indent="-291088" algn="l">
              <a:lnSpc>
                <a:spcPts val="3505"/>
              </a:lnSpc>
              <a:buFont typeface="Arial"/>
              <a:buChar char="•"/>
            </a:pPr>
            <a:r>
              <a:rPr lang="en-US" sz="2696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Tech-based learning with multilingual support.</a:t>
            </a:r>
          </a:p>
          <a:p>
            <a:pPr marL="582175" lvl="1" indent="-291088" algn="l">
              <a:lnSpc>
                <a:spcPts val="3505"/>
              </a:lnSpc>
              <a:buFont typeface="Arial"/>
              <a:buChar char="•"/>
            </a:pPr>
            <a:r>
              <a:rPr lang="en-US" sz="2696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Personalized strategies, AI-driven insights, and real-life simulations.</a:t>
            </a:r>
          </a:p>
          <a:p>
            <a:pPr marL="582175" lvl="1" indent="-291088" algn="l">
              <a:lnSpc>
                <a:spcPts val="3505"/>
              </a:lnSpc>
              <a:buFont typeface="Arial"/>
              <a:buChar char="•"/>
            </a:pPr>
            <a:r>
              <a:rPr lang="en-US" sz="2696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Fosters long-term planning and confident financial behavior.</a:t>
            </a:r>
          </a:p>
          <a:p>
            <a:pPr algn="l">
              <a:lnSpc>
                <a:spcPts val="3505"/>
              </a:lnSpc>
            </a:pPr>
            <a:endParaRPr lang="en-US" sz="2696">
              <a:solidFill>
                <a:srgbClr val="FFFFFF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pic>
        <p:nvPicPr>
          <p:cNvPr id="7" name="Picture 6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44C7ADD1-CD4A-7201-72B0-680C58DC5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30200" y="1126965"/>
            <a:ext cx="5098729" cy="90644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9397" y="3238418"/>
            <a:ext cx="6420437" cy="5698137"/>
          </a:xfrm>
          <a:custGeom>
            <a:avLst/>
            <a:gdLst/>
            <a:ahLst/>
            <a:cxnLst/>
            <a:rect l="l" t="t" r="r" b="b"/>
            <a:pathLst>
              <a:path w="6420437" h="5698137">
                <a:moveTo>
                  <a:pt x="0" y="0"/>
                </a:moveTo>
                <a:lnTo>
                  <a:pt x="6420437" y="0"/>
                </a:lnTo>
                <a:lnTo>
                  <a:pt x="6420437" y="5698137"/>
                </a:lnTo>
                <a:lnTo>
                  <a:pt x="0" y="56981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7093987" y="3563185"/>
            <a:ext cx="10165313" cy="537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b="1">
                <a:solidFill>
                  <a:srgbClr val="DC9427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Vision</a:t>
            </a:r>
          </a:p>
          <a:p>
            <a:pPr marL="582930" lvl="1" indent="-291465" algn="l">
              <a:lnSpc>
                <a:spcPts val="351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Build a platform that merges education, simulation, and expert support.</a:t>
            </a:r>
          </a:p>
          <a:p>
            <a:pPr marL="582930" lvl="1" indent="-291465" algn="l">
              <a:lnSpc>
                <a:spcPts val="351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Enable secure, confident, and goal-oriented financial decisions.</a:t>
            </a:r>
          </a:p>
          <a:p>
            <a:pPr algn="l">
              <a:lnSpc>
                <a:spcPts val="3510"/>
              </a:lnSpc>
            </a:pPr>
            <a:endParaRPr lang="en-US" sz="2700">
              <a:solidFill>
                <a:srgbClr val="FFFFFF"/>
              </a:solidFill>
              <a:latin typeface="Open Sans 1"/>
              <a:ea typeface="Open Sans 1"/>
              <a:cs typeface="Open Sans 1"/>
              <a:sym typeface="Open Sans 1"/>
            </a:endParaRPr>
          </a:p>
          <a:p>
            <a:pPr algn="l">
              <a:lnSpc>
                <a:spcPts val="4029"/>
              </a:lnSpc>
            </a:pPr>
            <a:r>
              <a:rPr lang="en-US" sz="3099" b="1">
                <a:solidFill>
                  <a:srgbClr val="DC9427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Value Proposition</a:t>
            </a:r>
          </a:p>
          <a:p>
            <a:pPr marL="582930" lvl="1" indent="-291465" algn="l">
              <a:lnSpc>
                <a:spcPts val="351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Simplifies complex topics into personalized, actionable steps.</a:t>
            </a:r>
          </a:p>
          <a:p>
            <a:pPr marL="582930" lvl="1" indent="-291465" algn="l">
              <a:lnSpc>
                <a:spcPts val="351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Live chatbot, real-time dashboards, and expert webinars.</a:t>
            </a:r>
          </a:p>
          <a:p>
            <a:pPr marL="582930" lvl="1" indent="-291465" algn="l">
              <a:lnSpc>
                <a:spcPts val="351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Designed for trust, accessibility, and clarity.</a:t>
            </a:r>
          </a:p>
          <a:p>
            <a:pPr marL="0" lvl="0" indent="0" algn="l">
              <a:lnSpc>
                <a:spcPts val="3510"/>
              </a:lnSpc>
            </a:pPr>
            <a:endParaRPr lang="en-US" sz="2700">
              <a:solidFill>
                <a:srgbClr val="FFFFFF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759834" y="1143000"/>
            <a:ext cx="10499466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6000" b="1" spc="-300">
                <a:solidFill>
                  <a:srgbClr val="EF659B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PLATFORM VISION &amp; </a:t>
            </a:r>
            <a:r>
              <a:rPr lang="en-US" sz="6000" b="1" spc="-30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UNIQUE VALUE PROPOSITION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512746" y="0"/>
            <a:ext cx="7262509" cy="10287000"/>
          </a:xfrm>
          <a:custGeom>
            <a:avLst/>
            <a:gdLst/>
            <a:ahLst/>
            <a:cxnLst/>
            <a:rect l="l" t="t" r="r" b="b"/>
            <a:pathLst>
              <a:path w="7262509" h="10287000">
                <a:moveTo>
                  <a:pt x="0" y="0"/>
                </a:moveTo>
                <a:lnTo>
                  <a:pt x="7262508" y="0"/>
                </a:lnTo>
                <a:lnTo>
                  <a:pt x="726250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492" b="-6419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8750" y="0"/>
            <a:ext cx="15430500" cy="10287000"/>
          </a:xfrm>
          <a:custGeom>
            <a:avLst/>
            <a:gdLst/>
            <a:ahLst/>
            <a:cxnLst/>
            <a:rect l="l" t="t" r="r" b="b"/>
            <a:pathLst>
              <a:path w="15430500" h="10287000">
                <a:moveTo>
                  <a:pt x="0" y="0"/>
                </a:moveTo>
                <a:lnTo>
                  <a:pt x="15430500" y="0"/>
                </a:lnTo>
                <a:lnTo>
                  <a:pt x="15430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1084862"/>
            <a:ext cx="10866768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>
                <a:solidFill>
                  <a:srgbClr val="EF659B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ONBOARDING – TAILORED </a:t>
            </a:r>
            <a:r>
              <a:rPr lang="en-US" sz="60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FINANCIAL GOAL SELECTION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63989" y="3388566"/>
            <a:ext cx="8883354" cy="6271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endParaRPr lang="en-US"/>
          </a:p>
          <a:p>
            <a:pPr algn="l">
              <a:lnSpc>
                <a:spcPts val="4029"/>
              </a:lnSpc>
            </a:pPr>
            <a:r>
              <a:rPr lang="en-US" sz="3099" b="1">
                <a:solidFill>
                  <a:srgbClr val="DC9427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Personalized Entry Point</a:t>
            </a:r>
          </a:p>
          <a:p>
            <a:pPr marL="582930" lvl="1" indent="-291465" algn="l">
              <a:lnSpc>
                <a:spcPts val="351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Users choose their goals right at the start:</a:t>
            </a:r>
          </a:p>
          <a:p>
            <a:pPr marL="1165860" lvl="2" indent="-388620" algn="l">
              <a:lnSpc>
                <a:spcPts val="3510"/>
              </a:lnSpc>
              <a:buFont typeface="Arial"/>
              <a:buChar char="⚬"/>
            </a:pPr>
            <a:r>
              <a:rPr lang="en-US" sz="27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Save taxes</a:t>
            </a:r>
          </a:p>
          <a:p>
            <a:pPr marL="1165860" lvl="2" indent="-388620" algn="l">
              <a:lnSpc>
                <a:spcPts val="3510"/>
              </a:lnSpc>
              <a:buFont typeface="Arial"/>
              <a:buChar char="⚬"/>
            </a:pPr>
            <a:r>
              <a:rPr lang="en-US" sz="27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Save money</a:t>
            </a:r>
          </a:p>
          <a:p>
            <a:pPr marL="1165860" lvl="2" indent="-388620" algn="l">
              <a:lnSpc>
                <a:spcPts val="3510"/>
              </a:lnSpc>
              <a:buFont typeface="Arial"/>
              <a:buChar char="⚬"/>
            </a:pPr>
            <a:r>
              <a:rPr lang="en-US" sz="27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Learn investing</a:t>
            </a:r>
          </a:p>
          <a:p>
            <a:pPr marL="1165860" lvl="2" indent="-388620" algn="l">
              <a:lnSpc>
                <a:spcPts val="3510"/>
              </a:lnSpc>
              <a:buFont typeface="Arial"/>
              <a:buChar char="⚬"/>
            </a:pPr>
            <a:r>
              <a:rPr lang="en-US" sz="27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Plan child’s education</a:t>
            </a:r>
          </a:p>
          <a:p>
            <a:pPr marL="1165860" lvl="2" indent="-388620" algn="l">
              <a:lnSpc>
                <a:spcPts val="3510"/>
              </a:lnSpc>
              <a:buFont typeface="Arial"/>
              <a:buChar char="⚬"/>
            </a:pPr>
            <a:r>
              <a:rPr lang="en-US" sz="27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Plan for retirement</a:t>
            </a:r>
          </a:p>
          <a:p>
            <a:pPr algn="l">
              <a:lnSpc>
                <a:spcPts val="3510"/>
              </a:lnSpc>
            </a:pPr>
            <a:endParaRPr lang="en-US" sz="2700">
              <a:solidFill>
                <a:srgbClr val="FFFFFF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algn="l">
              <a:lnSpc>
                <a:spcPts val="4029"/>
              </a:lnSpc>
            </a:pPr>
            <a:r>
              <a:rPr lang="en-US" sz="3099" b="1">
                <a:solidFill>
                  <a:srgbClr val="DC9427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Smart Journey Mapping</a:t>
            </a:r>
          </a:p>
          <a:p>
            <a:pPr marL="582930" lvl="1" indent="-291465" algn="l">
              <a:lnSpc>
                <a:spcPts val="351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Goals align the app’s content, dashboard, and recommendations.</a:t>
            </a:r>
          </a:p>
          <a:p>
            <a:pPr algn="l">
              <a:lnSpc>
                <a:spcPts val="3510"/>
              </a:lnSpc>
            </a:pPr>
            <a:endParaRPr lang="en-US" sz="2700">
              <a:solidFill>
                <a:srgbClr val="FFFFFF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algn="l">
              <a:lnSpc>
                <a:spcPts val="3510"/>
              </a:lnSpc>
            </a:pPr>
            <a:r>
              <a:rPr lang="en-US" sz="27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</p:txBody>
      </p:sp>
      <p:pic>
        <p:nvPicPr>
          <p:cNvPr id="6" name="Picture 5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75A36AB3-EF00-5E7A-CC43-38BF37081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5419" y="212001"/>
            <a:ext cx="5547937" cy="98629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07601">
            <a:off x="1432808" y="1599392"/>
            <a:ext cx="4307221" cy="7088216"/>
          </a:xfrm>
          <a:custGeom>
            <a:avLst/>
            <a:gdLst/>
            <a:ahLst/>
            <a:cxnLst/>
            <a:rect l="l" t="t" r="r" b="b"/>
            <a:pathLst>
              <a:path w="4307221" h="7088216">
                <a:moveTo>
                  <a:pt x="0" y="0"/>
                </a:moveTo>
                <a:lnTo>
                  <a:pt x="4307221" y="0"/>
                </a:lnTo>
                <a:lnTo>
                  <a:pt x="4307221" y="7088216"/>
                </a:lnTo>
                <a:lnTo>
                  <a:pt x="0" y="70882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-1319735">
            <a:off x="834509" y="1202663"/>
            <a:ext cx="2598701" cy="3093692"/>
          </a:xfrm>
          <a:custGeom>
            <a:avLst/>
            <a:gdLst/>
            <a:ahLst/>
            <a:cxnLst/>
            <a:rect l="l" t="t" r="r" b="b"/>
            <a:pathLst>
              <a:path w="2598701" h="3093692">
                <a:moveTo>
                  <a:pt x="0" y="0"/>
                </a:moveTo>
                <a:lnTo>
                  <a:pt x="2598702" y="0"/>
                </a:lnTo>
                <a:lnTo>
                  <a:pt x="2598702" y="3093692"/>
                </a:lnTo>
                <a:lnTo>
                  <a:pt x="0" y="30936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6731428" y="2085932"/>
            <a:ext cx="11326081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>
                <a:solidFill>
                  <a:srgbClr val="EF659B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HOME DASHBOARD – INVEST &amp;</a:t>
            </a:r>
          </a:p>
          <a:p>
            <a:pPr algn="l">
              <a:lnSpc>
                <a:spcPts val="6000"/>
              </a:lnSpc>
            </a:pPr>
            <a:r>
              <a:rPr lang="en-US" sz="6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MANIFEST OPTIONS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31428" y="5145095"/>
            <a:ext cx="11121206" cy="4534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b="1">
                <a:solidFill>
                  <a:srgbClr val="DC9427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Dual Dashboard View</a:t>
            </a:r>
          </a:p>
          <a:p>
            <a:pPr marL="582930" lvl="1" indent="-291465" algn="l">
              <a:lnSpc>
                <a:spcPts val="351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Invest: Real-time options and tools to grow wealth.</a:t>
            </a:r>
          </a:p>
          <a:p>
            <a:pPr marL="582930" lvl="1" indent="-291465" algn="l">
              <a:lnSpc>
                <a:spcPts val="351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Manifest: Practice and simulate financial choices before real investment.</a:t>
            </a:r>
          </a:p>
          <a:p>
            <a:pPr algn="l">
              <a:lnSpc>
                <a:spcPts val="3563"/>
              </a:lnSpc>
            </a:pPr>
            <a:endParaRPr lang="en-US" sz="2700">
              <a:solidFill>
                <a:srgbClr val="FFFFFF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algn="l">
              <a:lnSpc>
                <a:spcPts val="4029"/>
              </a:lnSpc>
            </a:pPr>
            <a:r>
              <a:rPr lang="en-US" sz="3099" b="1">
                <a:solidFill>
                  <a:srgbClr val="DC9427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User-Centric Design</a:t>
            </a:r>
          </a:p>
          <a:p>
            <a:pPr marL="582930" lvl="1" indent="-291465" algn="l">
              <a:lnSpc>
                <a:spcPts val="351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Encourages both immediate action and habit-building.</a:t>
            </a:r>
          </a:p>
          <a:p>
            <a:pPr algn="l">
              <a:lnSpc>
                <a:spcPts val="3563"/>
              </a:lnSpc>
            </a:pPr>
            <a:endParaRPr lang="en-US" sz="2700">
              <a:solidFill>
                <a:srgbClr val="FFFFFF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marL="0" lvl="0" indent="0" algn="l">
              <a:lnSpc>
                <a:spcPts val="3563"/>
              </a:lnSpc>
            </a:pPr>
            <a:endParaRPr lang="en-US" sz="2700">
              <a:solidFill>
                <a:srgbClr val="FFFFFF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marL="0" lvl="0" indent="0" algn="l">
              <a:lnSpc>
                <a:spcPts val="3563"/>
              </a:lnSpc>
            </a:pPr>
            <a:endParaRPr lang="en-US" sz="2700">
              <a:solidFill>
                <a:srgbClr val="FFFFFF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155786" y="2664579"/>
            <a:ext cx="6593721" cy="6593721"/>
          </a:xfrm>
          <a:custGeom>
            <a:avLst/>
            <a:gdLst/>
            <a:ahLst/>
            <a:cxnLst/>
            <a:rect l="l" t="t" r="r" b="b"/>
            <a:pathLst>
              <a:path w="6593721" h="6593721">
                <a:moveTo>
                  <a:pt x="0" y="0"/>
                </a:moveTo>
                <a:lnTo>
                  <a:pt x="6593721" y="0"/>
                </a:lnTo>
                <a:lnTo>
                  <a:pt x="6593721" y="6593721"/>
                </a:lnTo>
                <a:lnTo>
                  <a:pt x="0" y="65937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046449" y="1303279"/>
            <a:ext cx="8450020" cy="308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>
                <a:solidFill>
                  <a:srgbClr val="EF659B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FIRST TWO ACTION STEPS – QUIZ &amp; </a:t>
            </a:r>
            <a:r>
              <a:rPr lang="en-US" sz="60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EXPERT CONSULTATION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941896"/>
            <a:ext cx="11404477" cy="3687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b="1">
                <a:solidFill>
                  <a:srgbClr val="DC9427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Step 1: Finance Security Quiz</a:t>
            </a:r>
          </a:p>
          <a:p>
            <a:pPr marL="582930" lvl="1" indent="-291465" algn="l">
              <a:lnSpc>
                <a:spcPts val="351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Interactive quiz to assess user’s financial awareness.</a:t>
            </a:r>
          </a:p>
          <a:p>
            <a:pPr marL="582930" lvl="1" indent="-291465" algn="l">
              <a:lnSpc>
                <a:spcPts val="351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Tailors the next steps and investment suggestions.</a:t>
            </a:r>
          </a:p>
          <a:p>
            <a:pPr algn="l">
              <a:lnSpc>
                <a:spcPts val="4029"/>
              </a:lnSpc>
            </a:pPr>
            <a:endParaRPr lang="en-US" sz="2700">
              <a:solidFill>
                <a:srgbClr val="FFFFFF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algn="l">
              <a:lnSpc>
                <a:spcPts val="4029"/>
              </a:lnSpc>
            </a:pPr>
            <a:r>
              <a:rPr lang="en-US" sz="3099" b="1">
                <a:solidFill>
                  <a:srgbClr val="DC9427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Step 2: Talk to an Expert</a:t>
            </a:r>
          </a:p>
          <a:p>
            <a:pPr marL="582930" lvl="1" indent="-291465" algn="l">
              <a:lnSpc>
                <a:spcPts val="351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In-app expert guidance for personalized advice.</a:t>
            </a:r>
          </a:p>
          <a:p>
            <a:pPr marL="582930" lvl="1" indent="-291465" algn="l">
              <a:lnSpc>
                <a:spcPts val="351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Builds trust and early clarity.</a:t>
            </a:r>
          </a:p>
          <a:p>
            <a:pPr marL="0" lvl="0" indent="0" algn="l">
              <a:lnSpc>
                <a:spcPts val="3510"/>
              </a:lnSpc>
            </a:pPr>
            <a:endParaRPr lang="en-US" sz="2700">
              <a:solidFill>
                <a:srgbClr val="FFFFFF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1149478"/>
            <a:ext cx="10780425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>
                <a:solidFill>
                  <a:srgbClr val="EF659B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INVEST SECTION – </a:t>
            </a:r>
            <a:r>
              <a:rPr lang="en-US" sz="60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DIVERSE INVESTMENT OPTIONS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388485"/>
            <a:ext cx="11069817" cy="4935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b="1">
                <a:solidFill>
                  <a:srgbClr val="DC9427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Investment Options Available:</a:t>
            </a:r>
          </a:p>
          <a:p>
            <a:pPr marL="582930" lvl="1" indent="-291465" algn="l">
              <a:lnSpc>
                <a:spcPts val="351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🪙 Gold &amp; Silver: Traditional and secure</a:t>
            </a:r>
          </a:p>
          <a:p>
            <a:pPr marL="582930" lvl="1" indent="-291465" algn="l">
              <a:lnSpc>
                <a:spcPts val="351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📈 Stocks: Long-term capital growth</a:t>
            </a:r>
          </a:p>
          <a:p>
            <a:pPr marL="582930" lvl="1" indent="-291465" algn="l">
              <a:lnSpc>
                <a:spcPts val="351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🏠 Real Estate: Tangible asset investment</a:t>
            </a:r>
          </a:p>
          <a:p>
            <a:pPr marL="582930" lvl="1" indent="-291465" algn="l">
              <a:lnSpc>
                <a:spcPts val="351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🎓 Child Education &amp; 🏥 Health Insurance</a:t>
            </a:r>
          </a:p>
          <a:p>
            <a:pPr marL="582930" lvl="1" indent="-291465" algn="l">
              <a:lnSpc>
                <a:spcPts val="351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🆘 Emergency Fund &amp; 💸 Tax Saving Plans</a:t>
            </a:r>
          </a:p>
          <a:p>
            <a:pPr algn="l">
              <a:lnSpc>
                <a:spcPts val="3510"/>
              </a:lnSpc>
            </a:pPr>
            <a:endParaRPr lang="en-US" sz="2700">
              <a:solidFill>
                <a:srgbClr val="FFFFFF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algn="l">
              <a:lnSpc>
                <a:spcPts val="4029"/>
              </a:lnSpc>
            </a:pPr>
            <a:r>
              <a:rPr lang="en-US" sz="3099" b="1">
                <a:solidFill>
                  <a:srgbClr val="DC9427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Dashboard View</a:t>
            </a:r>
          </a:p>
          <a:p>
            <a:pPr marL="582930" lvl="1" indent="-291465" algn="l">
              <a:lnSpc>
                <a:spcPts val="351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Each investment has a summary, risk profile, and</a:t>
            </a:r>
          </a:p>
          <a:p>
            <a:pPr algn="l">
              <a:lnSpc>
                <a:spcPts val="3510"/>
              </a:lnSpc>
            </a:pPr>
            <a:r>
              <a:rPr lang="en-US" sz="27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      potential return info.</a:t>
            </a:r>
          </a:p>
          <a:p>
            <a:pPr marL="0" lvl="0" indent="0" algn="l">
              <a:lnSpc>
                <a:spcPts val="3510"/>
              </a:lnSpc>
            </a:pPr>
            <a:endParaRPr lang="en-US" sz="2700">
              <a:solidFill>
                <a:srgbClr val="FFFFFF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pic>
        <p:nvPicPr>
          <p:cNvPr id="6" name="Picture 5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9D257427-703B-B518-F042-5D3302F1A1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84" y="151171"/>
            <a:ext cx="5616371" cy="99846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00854"/>
            <a:ext cx="10282951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>
                <a:solidFill>
                  <a:srgbClr val="EF659B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MANIFEST SECTION – FINANCIAL SIMULATION WITH </a:t>
            </a:r>
            <a:r>
              <a:rPr lang="en-US" sz="60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PAPER MONEY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806322"/>
            <a:ext cx="11272230" cy="4058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b="1" dirty="0">
                <a:solidFill>
                  <a:srgbClr val="DC9427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Paper Money Simulation</a:t>
            </a:r>
          </a:p>
          <a:p>
            <a:pPr marL="582930" lvl="1" indent="-291465" algn="l">
              <a:lnSpc>
                <a:spcPts val="3510"/>
              </a:lnSpc>
              <a:buFont typeface="Arial"/>
              <a:buChar char="•"/>
            </a:pPr>
            <a:r>
              <a:rPr lang="en-US" sz="27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Allocate paper money based on income level.</a:t>
            </a:r>
          </a:p>
          <a:p>
            <a:pPr marL="582930" lvl="1" indent="-291465" algn="l">
              <a:lnSpc>
                <a:spcPts val="3510"/>
              </a:lnSpc>
              <a:buFont typeface="Arial"/>
              <a:buChar char="•"/>
            </a:pPr>
            <a:r>
              <a:rPr lang="en-US" sz="27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Build habits in a safe, no-risk environment.</a:t>
            </a:r>
          </a:p>
          <a:p>
            <a:pPr algn="l">
              <a:lnSpc>
                <a:spcPts val="3510"/>
              </a:lnSpc>
            </a:pPr>
            <a:endParaRPr lang="en-US" sz="2700" dirty="0">
              <a:solidFill>
                <a:srgbClr val="FFFFFF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algn="l">
              <a:lnSpc>
                <a:spcPts val="4029"/>
              </a:lnSpc>
            </a:pPr>
            <a:r>
              <a:rPr lang="en-US" sz="3099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099" b="1" dirty="0">
                <a:solidFill>
                  <a:srgbClr val="DC9427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Monthly Expense Tracker</a:t>
            </a:r>
          </a:p>
          <a:p>
            <a:pPr marL="582930" lvl="1" indent="-291465" algn="l">
              <a:lnSpc>
                <a:spcPts val="3510"/>
              </a:lnSpc>
              <a:buFont typeface="Arial"/>
              <a:buChar char="•"/>
            </a:pPr>
            <a:r>
              <a:rPr lang="en-US" sz="27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Track and reflect on spending patterns with simulated</a:t>
            </a:r>
          </a:p>
          <a:p>
            <a:pPr algn="l">
              <a:lnSpc>
                <a:spcPts val="3510"/>
              </a:lnSpc>
            </a:pPr>
            <a:r>
              <a:rPr lang="en-US" sz="27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     currency.</a:t>
            </a:r>
          </a:p>
          <a:p>
            <a:pPr marL="582930" lvl="1" indent="-291465" algn="l">
              <a:lnSpc>
                <a:spcPts val="3510"/>
              </a:lnSpc>
              <a:buFont typeface="Arial"/>
              <a:buChar char="•"/>
            </a:pPr>
            <a:r>
              <a:rPr lang="en-US" sz="27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Reinforce budgeting and financial discipline.</a:t>
            </a:r>
          </a:p>
          <a:p>
            <a:pPr marL="0" lvl="0" indent="0" algn="l">
              <a:lnSpc>
                <a:spcPts val="3510"/>
              </a:lnSpc>
            </a:pPr>
            <a:endParaRPr lang="en-US" sz="2700" dirty="0">
              <a:solidFill>
                <a:srgbClr val="FFFFFF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pic>
        <p:nvPicPr>
          <p:cNvPr id="6" name="Picture 5" descr="A screen shot of a phone&#10;&#10;AI-generated content may be incorrect.">
            <a:extLst>
              <a:ext uri="{FF2B5EF4-FFF2-40B4-BE49-F238E27FC236}">
                <a16:creationId xmlns:a16="http://schemas.microsoft.com/office/drawing/2014/main" id="{5E397898-5410-7ADE-3F4C-D087F9C18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311288"/>
            <a:ext cx="6442949" cy="96644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12674"/>
            <a:ext cx="9990198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>
                <a:solidFill>
                  <a:srgbClr val="EF659B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MANIFEST – INVESTMENT MODES &amp; </a:t>
            </a:r>
          </a:p>
          <a:p>
            <a:pPr algn="l">
              <a:lnSpc>
                <a:spcPts val="6000"/>
              </a:lnSpc>
            </a:pPr>
            <a:r>
              <a:rPr lang="en-US" sz="60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CHATBOT ASSISTANCE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891480"/>
            <a:ext cx="10881899" cy="549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b="1" dirty="0">
                <a:solidFill>
                  <a:srgbClr val="DC9427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Two Modes of Investing:</a:t>
            </a:r>
          </a:p>
          <a:p>
            <a:pPr marL="582930" lvl="1" indent="-291465" algn="l">
              <a:lnSpc>
                <a:spcPts val="3510"/>
              </a:lnSpc>
              <a:buFont typeface="Arial"/>
              <a:buChar char="•"/>
            </a:pPr>
            <a:r>
              <a:rPr lang="en-US" sz="27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Custom Mode: Manual investments using</a:t>
            </a:r>
          </a:p>
          <a:p>
            <a:pPr algn="l">
              <a:lnSpc>
                <a:spcPts val="3510"/>
              </a:lnSpc>
            </a:pPr>
            <a:r>
              <a:rPr lang="en-US" sz="27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      real-time insights.</a:t>
            </a:r>
          </a:p>
          <a:p>
            <a:pPr marL="582930" lvl="1" indent="-291465" algn="l">
              <a:lnSpc>
                <a:spcPts val="3510"/>
              </a:lnSpc>
              <a:buFont typeface="Arial"/>
              <a:buChar char="•"/>
            </a:pPr>
            <a:r>
              <a:rPr lang="en-US" sz="27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Auto Mode: AI chatbot invests automatically</a:t>
            </a:r>
          </a:p>
          <a:p>
            <a:pPr algn="l">
              <a:lnSpc>
                <a:spcPts val="3510"/>
              </a:lnSpc>
            </a:pPr>
            <a:r>
              <a:rPr lang="en-US" sz="27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     (80% profit – 20% margin risk).</a:t>
            </a:r>
          </a:p>
          <a:p>
            <a:pPr algn="l">
              <a:lnSpc>
                <a:spcPts val="3510"/>
              </a:lnSpc>
            </a:pPr>
            <a:endParaRPr lang="en-US" sz="2700" dirty="0">
              <a:solidFill>
                <a:srgbClr val="FFFFFF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algn="l">
              <a:lnSpc>
                <a:spcPts val="4029"/>
              </a:lnSpc>
            </a:pPr>
            <a:r>
              <a:rPr lang="en-US" sz="3099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099" b="1" dirty="0">
                <a:solidFill>
                  <a:srgbClr val="DC9427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Smart Chatbot Assistant:</a:t>
            </a:r>
          </a:p>
          <a:p>
            <a:pPr marL="582930" lvl="1" indent="-291465" algn="l">
              <a:lnSpc>
                <a:spcPts val="3510"/>
              </a:lnSpc>
              <a:buFont typeface="Arial"/>
              <a:buChar char="•"/>
            </a:pPr>
            <a:r>
              <a:rPr lang="en-US" sz="27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24/7 FAQ support with links to YouTube tutorials and </a:t>
            </a:r>
          </a:p>
          <a:p>
            <a:pPr algn="l">
              <a:lnSpc>
                <a:spcPts val="3510"/>
              </a:lnSpc>
            </a:pPr>
            <a:r>
              <a:rPr lang="en-US" sz="27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     finance guides.</a:t>
            </a:r>
          </a:p>
          <a:p>
            <a:pPr marL="582930" lvl="1" indent="-291465" algn="l">
              <a:lnSpc>
                <a:spcPts val="3510"/>
              </a:lnSpc>
              <a:buFont typeface="Arial"/>
              <a:buChar char="•"/>
            </a:pPr>
            <a:r>
              <a:rPr lang="en-US" sz="27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Solves queries related to investments, delays, </a:t>
            </a:r>
          </a:p>
          <a:p>
            <a:pPr marL="291465" lvl="1" algn="l">
              <a:lnSpc>
                <a:spcPts val="3510"/>
              </a:lnSpc>
            </a:pPr>
            <a:r>
              <a:rPr lang="en-US" sz="27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  and app use.</a:t>
            </a:r>
          </a:p>
          <a:p>
            <a:pPr marL="0" lvl="0" indent="0" algn="l">
              <a:lnSpc>
                <a:spcPts val="3510"/>
              </a:lnSpc>
            </a:pPr>
            <a:endParaRPr lang="en-US" sz="2700" dirty="0">
              <a:solidFill>
                <a:srgbClr val="FFFFFF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pic>
        <p:nvPicPr>
          <p:cNvPr id="7" name="Picture 6" descr="A person with headset and a phone&#10;&#10;AI-generated content may be incorrect.">
            <a:extLst>
              <a:ext uri="{FF2B5EF4-FFF2-40B4-BE49-F238E27FC236}">
                <a16:creationId xmlns:a16="http://schemas.microsoft.com/office/drawing/2014/main" id="{8D497192-42EC-F103-984B-49CB47CF8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95300"/>
            <a:ext cx="7285098" cy="929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139951"/>
            <a:ext cx="10534134" cy="450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8"/>
              </a:lnSpc>
            </a:pPr>
            <a:r>
              <a:rPr lang="en-US" sz="3098" b="1">
                <a:solidFill>
                  <a:srgbClr val="DC9427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Extra Tools:</a:t>
            </a:r>
          </a:p>
          <a:p>
            <a:pPr marL="582698" lvl="1" indent="-291349" algn="l">
              <a:lnSpc>
                <a:spcPts val="3508"/>
              </a:lnSpc>
              <a:buFont typeface="Arial"/>
              <a:buChar char="•"/>
            </a:pPr>
            <a:r>
              <a:rPr lang="en-US" sz="2698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SIP Calculator</a:t>
            </a:r>
          </a:p>
          <a:p>
            <a:pPr marL="582698" lvl="1" indent="-291349" algn="l">
              <a:lnSpc>
                <a:spcPts val="3508"/>
              </a:lnSpc>
              <a:buFont typeface="Arial"/>
              <a:buChar char="•"/>
            </a:pPr>
            <a:r>
              <a:rPr lang="en-US" sz="2698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Retirement Planning Toolkit</a:t>
            </a:r>
          </a:p>
          <a:p>
            <a:pPr marL="582698" lvl="1" indent="-291349" algn="l">
              <a:lnSpc>
                <a:spcPts val="3508"/>
              </a:lnSpc>
              <a:buFont typeface="Arial"/>
              <a:buChar char="•"/>
            </a:pPr>
            <a:r>
              <a:rPr lang="en-US" sz="2698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Multilingual Support</a:t>
            </a:r>
          </a:p>
          <a:p>
            <a:pPr marL="582698" lvl="1" indent="-291349" algn="l">
              <a:lnSpc>
                <a:spcPts val="3508"/>
              </a:lnSpc>
              <a:buFont typeface="Arial"/>
              <a:buChar char="•"/>
            </a:pPr>
            <a:r>
              <a:rPr lang="en-US" sz="2698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Daily Expense Tracker</a:t>
            </a:r>
          </a:p>
          <a:p>
            <a:pPr algn="l">
              <a:lnSpc>
                <a:spcPts val="3508"/>
              </a:lnSpc>
            </a:pPr>
            <a:endParaRPr lang="en-US" sz="2698">
              <a:solidFill>
                <a:srgbClr val="FFFFFF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algn="l">
              <a:lnSpc>
                <a:spcPts val="4028"/>
              </a:lnSpc>
            </a:pPr>
            <a:r>
              <a:rPr lang="en-US" sz="3098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098" b="1">
                <a:solidFill>
                  <a:srgbClr val="DC9427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Expert Webinars:</a:t>
            </a:r>
          </a:p>
          <a:p>
            <a:pPr marL="582698" lvl="1" indent="-291349" algn="l">
              <a:lnSpc>
                <a:spcPts val="3508"/>
              </a:lnSpc>
              <a:buFont typeface="Arial"/>
              <a:buChar char="•"/>
            </a:pPr>
            <a:r>
              <a:rPr lang="en-US" sz="2698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Curated sessions by top financial literacy experts.</a:t>
            </a:r>
          </a:p>
          <a:p>
            <a:pPr marL="582698" lvl="1" indent="-291349" algn="l">
              <a:lnSpc>
                <a:spcPts val="3508"/>
              </a:lnSpc>
              <a:buFont typeface="Arial"/>
              <a:buChar char="•"/>
            </a:pPr>
            <a:r>
              <a:rPr lang="en-US" sz="2698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Available through dedicated webinar library.</a:t>
            </a:r>
          </a:p>
          <a:p>
            <a:pPr marL="0" lvl="0" indent="0" algn="l">
              <a:lnSpc>
                <a:spcPts val="3508"/>
              </a:lnSpc>
            </a:pPr>
            <a:endParaRPr lang="en-US" sz="2698">
              <a:solidFill>
                <a:srgbClr val="FFFFFF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1112674"/>
            <a:ext cx="8683211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>
                <a:solidFill>
                  <a:srgbClr val="EF659B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ADDITIONAL FEATURES &amp;</a:t>
            </a:r>
          </a:p>
          <a:p>
            <a:pPr algn="l">
              <a:lnSpc>
                <a:spcPts val="6000"/>
              </a:lnSpc>
            </a:pPr>
            <a:r>
              <a:rPr lang="en-US" sz="60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EXPERT GUIDANCE</a:t>
            </a:r>
          </a:p>
        </p:txBody>
      </p:sp>
      <p:pic>
        <p:nvPicPr>
          <p:cNvPr id="6" name="Picture 5" descr="A screenshot of a pink screen&#10;&#10;AI-generated content may be incorrect.">
            <a:extLst>
              <a:ext uri="{FF2B5EF4-FFF2-40B4-BE49-F238E27FC236}">
                <a16:creationId xmlns:a16="http://schemas.microsoft.com/office/drawing/2014/main" id="{39703F99-DAE3-784A-B079-3FD441CD57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5800" y="198968"/>
            <a:ext cx="5562599" cy="98890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306312" y="5904360"/>
            <a:ext cx="9436695" cy="320815"/>
            <a:chOff x="0" y="0"/>
            <a:chExt cx="8314360" cy="2826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314360" cy="282660"/>
            </a:xfrm>
            <a:custGeom>
              <a:avLst/>
              <a:gdLst/>
              <a:ahLst/>
              <a:cxnLst/>
              <a:rect l="l" t="t" r="r" b="b"/>
              <a:pathLst>
                <a:path w="8314360" h="282660">
                  <a:moveTo>
                    <a:pt x="82041" y="0"/>
                  </a:moveTo>
                  <a:lnTo>
                    <a:pt x="8232319" y="0"/>
                  </a:lnTo>
                  <a:cubicBezTo>
                    <a:pt x="8277629" y="0"/>
                    <a:pt x="8314360" y="36731"/>
                    <a:pt x="8314360" y="82041"/>
                  </a:cubicBezTo>
                  <a:lnTo>
                    <a:pt x="8314360" y="200619"/>
                  </a:lnTo>
                  <a:cubicBezTo>
                    <a:pt x="8314360" y="245929"/>
                    <a:pt x="8277629" y="282660"/>
                    <a:pt x="8232319" y="282660"/>
                  </a:cubicBezTo>
                  <a:lnTo>
                    <a:pt x="82041" y="282660"/>
                  </a:lnTo>
                  <a:cubicBezTo>
                    <a:pt x="36731" y="282660"/>
                    <a:pt x="0" y="245929"/>
                    <a:pt x="0" y="200619"/>
                  </a:cubicBezTo>
                  <a:lnTo>
                    <a:pt x="0" y="82041"/>
                  </a:lnTo>
                  <a:cubicBezTo>
                    <a:pt x="0" y="36731"/>
                    <a:pt x="36731" y="0"/>
                    <a:pt x="8204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EF659B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8314360" cy="339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067102" y="4332605"/>
            <a:ext cx="10153795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63</TotalTime>
  <Words>557</Words>
  <Application>Microsoft Office PowerPoint</Application>
  <PresentationFormat>Custom</PresentationFormat>
  <Paragraphs>104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Montserrat Bold</vt:lpstr>
      <vt:lpstr>Calibri</vt:lpstr>
      <vt:lpstr>Montserrat Ultra-Bold</vt:lpstr>
      <vt:lpstr>Open Sans 1 Bold</vt:lpstr>
      <vt:lpstr>Arial</vt:lpstr>
      <vt:lpstr>Open Sans 1</vt:lpstr>
      <vt:lpstr>Open Sans 2</vt:lpstr>
      <vt:lpstr>Open Sans 2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Planning</dc:title>
  <dc:creator>Harish Maske</dc:creator>
  <cp:lastModifiedBy>HARISH  MASKE</cp:lastModifiedBy>
  <cp:revision>2</cp:revision>
  <dcterms:created xsi:type="dcterms:W3CDTF">2006-08-16T00:00:00Z</dcterms:created>
  <dcterms:modified xsi:type="dcterms:W3CDTF">2025-04-12T15:44:18Z</dcterms:modified>
  <dc:identifier>DAGkKbcMflw</dc:identifier>
</cp:coreProperties>
</file>